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" charset="1" panose="00000500000000000000"/>
      <p:regular r:id="rId14"/>
    </p:embeddedFont>
    <p:embeddedFont>
      <p:font typeface="DM Sans Bold" charset="1" panose="00000000000000000000"/>
      <p:regular r:id="rId15"/>
    </p:embeddedFont>
    <p:embeddedFont>
      <p:font typeface="Open Sans Bold" charset="1" panose="020B0806030504020204"/>
      <p:regular r:id="rId16"/>
    </p:embeddedFon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13701" y="-3518777"/>
            <a:ext cx="18695490" cy="18677342"/>
            <a:chOff x="0" y="0"/>
            <a:chExt cx="890190" cy="88932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17165" y="17141"/>
              <a:ext cx="855861" cy="855044"/>
            </a:xfrm>
            <a:custGeom>
              <a:avLst/>
              <a:gdLst/>
              <a:ahLst/>
              <a:cxnLst/>
              <a:rect r="r" b="b" t="t" l="l"/>
              <a:pathLst>
                <a:path h="855044" w="855861">
                  <a:moveTo>
                    <a:pt x="398634" y="12127"/>
                  </a:moveTo>
                  <a:lnTo>
                    <a:pt x="12131" y="398255"/>
                  </a:lnTo>
                  <a:cubicBezTo>
                    <a:pt x="4364" y="406014"/>
                    <a:pt x="0" y="416543"/>
                    <a:pt x="0" y="427522"/>
                  </a:cubicBezTo>
                  <a:cubicBezTo>
                    <a:pt x="0" y="438501"/>
                    <a:pt x="4364" y="449030"/>
                    <a:pt x="12131" y="456790"/>
                  </a:cubicBezTo>
                  <a:lnTo>
                    <a:pt x="398634" y="842918"/>
                  </a:lnTo>
                  <a:cubicBezTo>
                    <a:pt x="414818" y="859086"/>
                    <a:pt x="441042" y="859086"/>
                    <a:pt x="457226" y="842918"/>
                  </a:cubicBezTo>
                  <a:lnTo>
                    <a:pt x="843729" y="456790"/>
                  </a:lnTo>
                  <a:cubicBezTo>
                    <a:pt x="851497" y="449030"/>
                    <a:pt x="855861" y="438501"/>
                    <a:pt x="855861" y="427522"/>
                  </a:cubicBezTo>
                  <a:cubicBezTo>
                    <a:pt x="855861" y="416543"/>
                    <a:pt x="851497" y="406014"/>
                    <a:pt x="843729" y="398255"/>
                  </a:cubicBezTo>
                  <a:lnTo>
                    <a:pt x="457226" y="12127"/>
                  </a:lnTo>
                  <a:cubicBezTo>
                    <a:pt x="441042" y="-4042"/>
                    <a:pt x="414818" y="-4042"/>
                    <a:pt x="398634" y="12127"/>
                  </a:cubicBezTo>
                  <a:close/>
                </a:path>
              </a:pathLst>
            </a:custGeom>
            <a:blipFill>
              <a:blip r:embed="rId2"/>
              <a:stretch>
                <a:fillRect l="-22616" t="-3272" r="-35247" b="-200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028700" y="7186944"/>
            <a:ext cx="19970002" cy="9914866"/>
            <a:chOff x="0" y="0"/>
            <a:chExt cx="1557574" cy="7733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8687" y="0"/>
              <a:ext cx="1520200" cy="760215"/>
            </a:xfrm>
            <a:custGeom>
              <a:avLst/>
              <a:gdLst/>
              <a:ahLst/>
              <a:cxnLst/>
              <a:rect r="r" b="b" t="t" l="l"/>
              <a:pathLst>
                <a:path h="760215" w="1520200">
                  <a:moveTo>
                    <a:pt x="782658" y="750917"/>
                  </a:moveTo>
                  <a:lnTo>
                    <a:pt x="1516329" y="22399"/>
                  </a:lnTo>
                  <a:cubicBezTo>
                    <a:pt x="1520095" y="18659"/>
                    <a:pt x="1521233" y="13017"/>
                    <a:pt x="1519211" y="8109"/>
                  </a:cubicBezTo>
                  <a:cubicBezTo>
                    <a:pt x="1517188" y="3202"/>
                    <a:pt x="1512405" y="0"/>
                    <a:pt x="1507097" y="0"/>
                  </a:cubicBezTo>
                  <a:lnTo>
                    <a:pt x="13103" y="0"/>
                  </a:lnTo>
                  <a:cubicBezTo>
                    <a:pt x="7795" y="0"/>
                    <a:pt x="3012" y="3202"/>
                    <a:pt x="989" y="8109"/>
                  </a:cubicBezTo>
                  <a:cubicBezTo>
                    <a:pt x="-1034" y="13017"/>
                    <a:pt x="104" y="18659"/>
                    <a:pt x="3871" y="22399"/>
                  </a:cubicBezTo>
                  <a:lnTo>
                    <a:pt x="737542" y="750917"/>
                  </a:lnTo>
                  <a:cubicBezTo>
                    <a:pt x="750026" y="763314"/>
                    <a:pt x="770174" y="763314"/>
                    <a:pt x="782658" y="750917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60050" y="-6813160"/>
            <a:ext cx="18788758" cy="9328392"/>
            <a:chOff x="0" y="0"/>
            <a:chExt cx="1557574" cy="7733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063734" y="8186973"/>
            <a:ext cx="2647400" cy="0"/>
          </a:xfrm>
          <a:prstGeom prst="line">
            <a:avLst/>
          </a:prstGeom>
          <a:ln cap="rnd" w="66675">
            <a:solidFill>
              <a:srgbClr val="18368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781696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6" y="0"/>
                </a:lnTo>
                <a:lnTo>
                  <a:pt x="745466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64054" y="7917902"/>
            <a:ext cx="499968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Sistema web para venta e instalación de ablandadores y filtros de agua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Equipo desarrollador DuocUC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4054" y="3629657"/>
            <a:ext cx="8926159" cy="1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2"/>
              </a:lnSpc>
            </a:pPr>
            <a:r>
              <a:rPr lang="en-US" b="true" sz="4669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PLAN DE PROYECTO</a:t>
            </a:r>
          </a:p>
          <a:p>
            <a:pPr algn="l" marL="0" indent="0" lvl="0">
              <a:lnSpc>
                <a:spcPts val="4202"/>
              </a:lnSpc>
            </a:pPr>
            <a:r>
              <a:rPr lang="en-US" b="true" sz="4669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HIDROPURA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4054" y="1009650"/>
            <a:ext cx="403021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7 de septiembre 2026</a:t>
            </a:r>
          </a:p>
        </p:txBody>
      </p:sp>
      <p:grpSp>
        <p:nvGrpSpPr>
          <p:cNvPr name="Group 15" id="15"/>
          <p:cNvGrpSpPr/>
          <p:nvPr/>
        </p:nvGrpSpPr>
        <p:grpSpPr>
          <a:xfrm rot="2700000">
            <a:off x="9886403" y="1707732"/>
            <a:ext cx="2254596" cy="2254596"/>
            <a:chOff x="0" y="0"/>
            <a:chExt cx="593803" cy="5938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3803" cy="593803"/>
            </a:xfrm>
            <a:custGeom>
              <a:avLst/>
              <a:gdLst/>
              <a:ahLst/>
              <a:cxnLst/>
              <a:rect r="r" b="b" t="t" l="l"/>
              <a:pathLst>
                <a:path h="593803" w="593803">
                  <a:moveTo>
                    <a:pt x="161390" y="0"/>
                  </a:moveTo>
                  <a:lnTo>
                    <a:pt x="432413" y="0"/>
                  </a:lnTo>
                  <a:cubicBezTo>
                    <a:pt x="475216" y="0"/>
                    <a:pt x="516266" y="17004"/>
                    <a:pt x="546533" y="47270"/>
                  </a:cubicBezTo>
                  <a:cubicBezTo>
                    <a:pt x="576800" y="77537"/>
                    <a:pt x="593803" y="118587"/>
                    <a:pt x="593803" y="161390"/>
                  </a:cubicBezTo>
                  <a:lnTo>
                    <a:pt x="593803" y="432413"/>
                  </a:lnTo>
                  <a:cubicBezTo>
                    <a:pt x="593803" y="475216"/>
                    <a:pt x="576800" y="516266"/>
                    <a:pt x="546533" y="546533"/>
                  </a:cubicBezTo>
                  <a:cubicBezTo>
                    <a:pt x="516266" y="576800"/>
                    <a:pt x="475216" y="593803"/>
                    <a:pt x="432413" y="593803"/>
                  </a:cubicBezTo>
                  <a:lnTo>
                    <a:pt x="161390" y="593803"/>
                  </a:lnTo>
                  <a:cubicBezTo>
                    <a:pt x="118587" y="593803"/>
                    <a:pt x="77537" y="576800"/>
                    <a:pt x="47270" y="546533"/>
                  </a:cubicBezTo>
                  <a:cubicBezTo>
                    <a:pt x="17004" y="516266"/>
                    <a:pt x="0" y="475216"/>
                    <a:pt x="0" y="432413"/>
                  </a:cubicBezTo>
                  <a:lnTo>
                    <a:pt x="0" y="161390"/>
                  </a:lnTo>
                  <a:cubicBezTo>
                    <a:pt x="0" y="118587"/>
                    <a:pt x="17004" y="77537"/>
                    <a:pt x="47270" y="47270"/>
                  </a:cubicBezTo>
                  <a:cubicBezTo>
                    <a:pt x="77537" y="17004"/>
                    <a:pt x="118587" y="0"/>
                    <a:pt x="161390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93803" cy="63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4017" y="-6859967"/>
            <a:ext cx="18788758" cy="9328392"/>
            <a:chOff x="0" y="0"/>
            <a:chExt cx="1557574" cy="773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035888" y="9235036"/>
            <a:ext cx="21518857" cy="2096422"/>
            <a:chOff x="0" y="0"/>
            <a:chExt cx="5667518" cy="552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05258" y="4940338"/>
            <a:ext cx="776851" cy="776851"/>
            <a:chOff x="0" y="0"/>
            <a:chExt cx="204603" cy="2046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603" cy="204603"/>
            </a:xfrm>
            <a:custGeom>
              <a:avLst/>
              <a:gdLst/>
              <a:ahLst/>
              <a:cxnLst/>
              <a:rect r="r" b="b" t="t" l="l"/>
              <a:pathLst>
                <a:path h="204603" w="204603">
                  <a:moveTo>
                    <a:pt x="102301" y="0"/>
                  </a:moveTo>
                  <a:lnTo>
                    <a:pt x="102301" y="0"/>
                  </a:lnTo>
                  <a:cubicBezTo>
                    <a:pt x="129433" y="0"/>
                    <a:pt x="155454" y="10778"/>
                    <a:pt x="174639" y="29963"/>
                  </a:cubicBezTo>
                  <a:cubicBezTo>
                    <a:pt x="193825" y="49149"/>
                    <a:pt x="204603" y="75169"/>
                    <a:pt x="204603" y="102301"/>
                  </a:cubicBezTo>
                  <a:lnTo>
                    <a:pt x="204603" y="102301"/>
                  </a:lnTo>
                  <a:cubicBezTo>
                    <a:pt x="204603" y="129433"/>
                    <a:pt x="193825" y="155454"/>
                    <a:pt x="174639" y="174639"/>
                  </a:cubicBezTo>
                  <a:cubicBezTo>
                    <a:pt x="155454" y="193825"/>
                    <a:pt x="129433" y="204603"/>
                    <a:pt x="102301" y="204603"/>
                  </a:cubicBezTo>
                  <a:lnTo>
                    <a:pt x="102301" y="204603"/>
                  </a:lnTo>
                  <a:cubicBezTo>
                    <a:pt x="75169" y="204603"/>
                    <a:pt x="49149" y="193825"/>
                    <a:pt x="29963" y="174639"/>
                  </a:cubicBezTo>
                  <a:cubicBezTo>
                    <a:pt x="10778" y="155454"/>
                    <a:pt x="0" y="129433"/>
                    <a:pt x="0" y="102301"/>
                  </a:cubicBezTo>
                  <a:lnTo>
                    <a:pt x="0" y="102301"/>
                  </a:lnTo>
                  <a:cubicBezTo>
                    <a:pt x="0" y="75169"/>
                    <a:pt x="10778" y="49149"/>
                    <a:pt x="29963" y="29963"/>
                  </a:cubicBezTo>
                  <a:cubicBezTo>
                    <a:pt x="49149" y="10778"/>
                    <a:pt x="75169" y="0"/>
                    <a:pt x="102301" y="0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4603" cy="242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79252" y="3544414"/>
            <a:ext cx="8572500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Dueño de HidroPura, Cristian Vergara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Empresa dedicada a la venta e instalación de ablandadores y filtros de agua en la región. Actualmente gestiona toda su operación (cotizaciones, agendamiento de citas, seguimiento de clientes) exclusivamente a través de WhatsApp, lo que genera desorden, pérdida de información y nula visibilidad de métricas comerciales.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Necesita un sistema web centralizado que profesionalice su negocio y le permita escalar.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7730" y="1526593"/>
            <a:ext cx="9953625" cy="156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67"/>
              </a:lnSpc>
              <a:spcBef>
                <a:spcPct val="0"/>
              </a:spcBef>
            </a:pPr>
            <a:r>
              <a:rPr lang="en-US" b="true" sz="6630" strike="noStrike" u="none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CLIENTE Y PROBLEMATICA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9975" y="-6858000"/>
            <a:ext cx="18792825" cy="9334500"/>
            <a:chOff x="0" y="0"/>
            <a:chExt cx="25057100" cy="1244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57100" cy="12446000"/>
            </a:xfrm>
            <a:custGeom>
              <a:avLst/>
              <a:gdLst/>
              <a:ahLst/>
              <a:cxnLst/>
              <a:rect r="r" b="b" t="t" l="l"/>
              <a:pathLst>
                <a:path h="12446000" w="25057100">
                  <a:moveTo>
                    <a:pt x="12528550" y="0"/>
                  </a:moveTo>
                  <a:lnTo>
                    <a:pt x="25057100" y="12446000"/>
                  </a:lnTo>
                  <a:lnTo>
                    <a:pt x="0" y="12446000"/>
                  </a:lnTo>
                  <a:lnTo>
                    <a:pt x="12528550" y="0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57100" cy="1248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16350" y="723900"/>
            <a:ext cx="752475" cy="619125"/>
            <a:chOff x="0" y="0"/>
            <a:chExt cx="1003300" cy="825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3300" cy="825500"/>
            </a:xfrm>
            <a:custGeom>
              <a:avLst/>
              <a:gdLst/>
              <a:ahLst/>
              <a:cxnLst/>
              <a:rect r="r" b="b" t="t" l="l"/>
              <a:pathLst>
                <a:path h="825500" w="1003300">
                  <a:moveTo>
                    <a:pt x="0" y="0"/>
                  </a:moveTo>
                  <a:lnTo>
                    <a:pt x="1003300" y="0"/>
                  </a:lnTo>
                  <a:lnTo>
                    <a:pt x="1003300" y="825500"/>
                  </a:lnTo>
                  <a:lnTo>
                    <a:pt x="0" y="825500"/>
                  </a:lnTo>
                  <a:close/>
                </a:path>
              </a:pathLst>
            </a:custGeom>
            <a:blipFill>
              <a:blip r:embed="rId2"/>
              <a:stretch>
                <a:fillRect l="-55566" t="0" r="-5556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038225" y="9239250"/>
            <a:ext cx="21526500" cy="2105025"/>
            <a:chOff x="0" y="0"/>
            <a:chExt cx="28702000" cy="2806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702000" cy="2806700"/>
            </a:xfrm>
            <a:custGeom>
              <a:avLst/>
              <a:gdLst/>
              <a:ahLst/>
              <a:cxnLst/>
              <a:rect r="r" b="b" t="t" l="l"/>
              <a:pathLst>
                <a:path h="2806700" w="28702000">
                  <a:moveTo>
                    <a:pt x="0" y="0"/>
                  </a:moveTo>
                  <a:lnTo>
                    <a:pt x="28702000" y="0"/>
                  </a:lnTo>
                  <a:lnTo>
                    <a:pt x="28702000" y="2806700"/>
                  </a:lnTo>
                  <a:lnTo>
                    <a:pt x="0" y="2806700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702000" cy="2844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33450" y="815340"/>
            <a:ext cx="9953625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6600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PROPUESTA Y ARQUITECTURA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5925" y="2809875"/>
            <a:ext cx="857250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Sistema web centralizado para profesionalizar la operación de HidroPura, reemplazando la gestión manual por WhatsApp.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5925" y="3762375"/>
            <a:ext cx="40005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b="true" sz="1400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5925" y="4095750"/>
            <a:ext cx="4000500" cy="762000"/>
            <a:chOff x="0" y="0"/>
            <a:chExt cx="5334000" cy="10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React (Vite) + Tailwind CSS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5925" y="5143500"/>
            <a:ext cx="4000500" cy="762000"/>
            <a:chOff x="0" y="0"/>
            <a:chExt cx="5334000" cy="10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Chatbot Widget (custom)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286500" y="3762375"/>
            <a:ext cx="40005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b="true" sz="1400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286500" y="4095750"/>
            <a:ext cx="4000500" cy="762000"/>
            <a:chOff x="0" y="0"/>
            <a:chExt cx="5334000" cy="101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Node.js + Express.js (API REST)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86500" y="5143500"/>
            <a:ext cx="4000500" cy="762000"/>
            <a:chOff x="0" y="0"/>
            <a:chExt cx="5334000" cy="101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PostgreSQL (VPS Ubuntu)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86500" y="6191250"/>
            <a:ext cx="4000500" cy="762000"/>
            <a:chOff x="0" y="0"/>
            <a:chExt cx="5334000" cy="101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Nginx + PM2 (VPS)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887075" y="3762375"/>
            <a:ext cx="40005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b="true" sz="1400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INTEGRACIONES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887075" y="4095750"/>
            <a:ext cx="4000500" cy="762000"/>
            <a:chOff x="0" y="0"/>
            <a:chExt cx="5334000" cy="101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Mercado Pago SDK (Webhooks)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887075" y="5143500"/>
            <a:ext cx="4000500" cy="762000"/>
            <a:chOff x="0" y="0"/>
            <a:chExt cx="5334000" cy="101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Nodemailer (SMTP)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887075" y="6191250"/>
            <a:ext cx="4000500" cy="762000"/>
            <a:chOff x="0" y="0"/>
            <a:chExt cx="5334000" cy="101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3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334000">
                  <a:moveTo>
                    <a:pt x="101600" y="0"/>
                  </a:moveTo>
                  <a:lnTo>
                    <a:pt x="5232400" y="0"/>
                  </a:lnTo>
                  <a:cubicBezTo>
                    <a:pt x="5288512" y="0"/>
                    <a:pt x="5334000" y="45488"/>
                    <a:pt x="5334000" y="101600"/>
                  </a:cubicBezTo>
                  <a:lnTo>
                    <a:pt x="5334000" y="914400"/>
                  </a:lnTo>
                  <a:cubicBezTo>
                    <a:pt x="5334000" y="970512"/>
                    <a:pt x="5288512" y="1016000"/>
                    <a:pt x="523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7F7F7"/>
            </a:solidFill>
            <a:ln w="28575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33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1E1E1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Power BI (embed)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5686425" y="4476750"/>
            <a:ext cx="600075" cy="0"/>
          </a:xfrm>
          <a:prstGeom prst="line">
            <a:avLst/>
          </a:prstGeom>
          <a:ln cap="flat" w="28575">
            <a:solidFill>
              <a:srgbClr val="18368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10287000" y="4476750"/>
            <a:ext cx="600075" cy="0"/>
          </a:xfrm>
          <a:prstGeom prst="line">
            <a:avLst/>
          </a:prstGeom>
          <a:ln cap="flat" w="28575">
            <a:solidFill>
              <a:srgbClr val="18368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8286750" y="4857750"/>
            <a:ext cx="0" cy="285750"/>
          </a:xfrm>
          <a:prstGeom prst="line">
            <a:avLst/>
          </a:prstGeom>
          <a:ln cap="flat" w="28575">
            <a:solidFill>
              <a:srgbClr val="18368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8286750" y="5905500"/>
            <a:ext cx="0" cy="285750"/>
          </a:xfrm>
          <a:prstGeom prst="line">
            <a:avLst/>
          </a:prstGeom>
          <a:ln cap="flat" w="28575">
            <a:solidFill>
              <a:srgbClr val="18368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3" id="43"/>
          <p:cNvGrpSpPr/>
          <p:nvPr/>
        </p:nvGrpSpPr>
        <p:grpSpPr>
          <a:xfrm rot="0">
            <a:off x="1685925" y="7429500"/>
            <a:ext cx="13201650" cy="571500"/>
            <a:chOff x="0" y="0"/>
            <a:chExt cx="17602200" cy="762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6022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602200">
                  <a:moveTo>
                    <a:pt x="76200" y="0"/>
                  </a:moveTo>
                  <a:lnTo>
                    <a:pt x="17526000" y="0"/>
                  </a:lnTo>
                  <a:cubicBezTo>
                    <a:pt x="17568084" y="0"/>
                    <a:pt x="17602200" y="34116"/>
                    <a:pt x="17602200" y="76200"/>
                  </a:cubicBezTo>
                  <a:lnTo>
                    <a:pt x="17602200" y="685800"/>
                  </a:lnTo>
                  <a:cubicBezTo>
                    <a:pt x="17602200" y="727884"/>
                    <a:pt x="17568084" y="762000"/>
                    <a:pt x="175260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6022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GitHub  ·  Trello  ·  Postman  ·  Dominio .cl / .com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40488"/>
            <a:ext cx="4620803" cy="6441810"/>
          </a:xfrm>
          <a:custGeom>
            <a:avLst/>
            <a:gdLst/>
            <a:ahLst/>
            <a:cxnLst/>
            <a:rect r="r" b="b" t="t" l="l"/>
            <a:pathLst>
              <a:path h="6441810" w="4620803">
                <a:moveTo>
                  <a:pt x="0" y="0"/>
                </a:moveTo>
                <a:lnTo>
                  <a:pt x="4620803" y="0"/>
                </a:lnTo>
                <a:lnTo>
                  <a:pt x="4620803" y="6441810"/>
                </a:lnTo>
                <a:lnTo>
                  <a:pt x="0" y="6441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20803" y="2188642"/>
            <a:ext cx="4516043" cy="6493656"/>
          </a:xfrm>
          <a:custGeom>
            <a:avLst/>
            <a:gdLst/>
            <a:ahLst/>
            <a:cxnLst/>
            <a:rect r="r" b="b" t="t" l="l"/>
            <a:pathLst>
              <a:path h="6493656" w="4516043">
                <a:moveTo>
                  <a:pt x="0" y="0"/>
                </a:moveTo>
                <a:lnTo>
                  <a:pt x="4516043" y="0"/>
                </a:lnTo>
                <a:lnTo>
                  <a:pt x="4516043" y="6493656"/>
                </a:lnTo>
                <a:lnTo>
                  <a:pt x="0" y="6493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188642"/>
            <a:ext cx="4100472" cy="6493656"/>
          </a:xfrm>
          <a:custGeom>
            <a:avLst/>
            <a:gdLst/>
            <a:ahLst/>
            <a:cxnLst/>
            <a:rect r="r" b="b" t="t" l="l"/>
            <a:pathLst>
              <a:path h="6493656" w="4100472">
                <a:moveTo>
                  <a:pt x="0" y="0"/>
                </a:moveTo>
                <a:lnTo>
                  <a:pt x="4100472" y="0"/>
                </a:lnTo>
                <a:lnTo>
                  <a:pt x="4100472" y="6493656"/>
                </a:lnTo>
                <a:lnTo>
                  <a:pt x="0" y="6493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53997" y="2013190"/>
            <a:ext cx="4080672" cy="6493656"/>
          </a:xfrm>
          <a:custGeom>
            <a:avLst/>
            <a:gdLst/>
            <a:ahLst/>
            <a:cxnLst/>
            <a:rect r="r" b="b" t="t" l="l"/>
            <a:pathLst>
              <a:path h="6493656" w="4080672">
                <a:moveTo>
                  <a:pt x="0" y="0"/>
                </a:moveTo>
                <a:lnTo>
                  <a:pt x="4080672" y="0"/>
                </a:lnTo>
                <a:lnTo>
                  <a:pt x="4080672" y="6493656"/>
                </a:lnTo>
                <a:lnTo>
                  <a:pt x="0" y="6493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48419" y="536264"/>
            <a:ext cx="8896052" cy="88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Pagina principal (Escritorio)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18586" y="1425506"/>
            <a:ext cx="5152957" cy="6364021"/>
          </a:xfrm>
          <a:custGeom>
            <a:avLst/>
            <a:gdLst/>
            <a:ahLst/>
            <a:cxnLst/>
            <a:rect r="r" b="b" t="t" l="l"/>
            <a:pathLst>
              <a:path h="6364021" w="5152957">
                <a:moveTo>
                  <a:pt x="0" y="0"/>
                </a:moveTo>
                <a:lnTo>
                  <a:pt x="5152957" y="0"/>
                </a:lnTo>
                <a:lnTo>
                  <a:pt x="5152957" y="6364021"/>
                </a:lnTo>
                <a:lnTo>
                  <a:pt x="0" y="636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2951" y="1421521"/>
            <a:ext cx="7507823" cy="5762083"/>
          </a:xfrm>
          <a:custGeom>
            <a:avLst/>
            <a:gdLst/>
            <a:ahLst/>
            <a:cxnLst/>
            <a:rect r="r" b="b" t="t" l="l"/>
            <a:pathLst>
              <a:path h="5762083" w="7507823">
                <a:moveTo>
                  <a:pt x="0" y="0"/>
                </a:moveTo>
                <a:lnTo>
                  <a:pt x="7507824" y="0"/>
                </a:lnTo>
                <a:lnTo>
                  <a:pt x="7507824" y="5762083"/>
                </a:lnTo>
                <a:lnTo>
                  <a:pt x="0" y="5762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73525" y="148603"/>
            <a:ext cx="8011021" cy="88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Pagina principal (Mobile)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98186" y="1570763"/>
            <a:ext cx="4479147" cy="6493656"/>
          </a:xfrm>
          <a:custGeom>
            <a:avLst/>
            <a:gdLst/>
            <a:ahLst/>
            <a:cxnLst/>
            <a:rect r="r" b="b" t="t" l="l"/>
            <a:pathLst>
              <a:path h="6493656" w="4479147">
                <a:moveTo>
                  <a:pt x="0" y="0"/>
                </a:moveTo>
                <a:lnTo>
                  <a:pt x="4479147" y="0"/>
                </a:lnTo>
                <a:lnTo>
                  <a:pt x="4479147" y="6493656"/>
                </a:lnTo>
                <a:lnTo>
                  <a:pt x="0" y="649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539" y="1570763"/>
            <a:ext cx="9312723" cy="4845452"/>
          </a:xfrm>
          <a:custGeom>
            <a:avLst/>
            <a:gdLst/>
            <a:ahLst/>
            <a:cxnLst/>
            <a:rect r="r" b="b" t="t" l="l"/>
            <a:pathLst>
              <a:path h="4845452" w="9312723">
                <a:moveTo>
                  <a:pt x="0" y="0"/>
                </a:moveTo>
                <a:lnTo>
                  <a:pt x="9312723" y="0"/>
                </a:lnTo>
                <a:lnTo>
                  <a:pt x="9312723" y="4845453"/>
                </a:lnTo>
                <a:lnTo>
                  <a:pt x="0" y="4845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4773" y="431801"/>
            <a:ext cx="6623080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Modulo Inicio de sesion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26220" y="431801"/>
            <a:ext cx="6623080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Modulo Compra Detalle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9975" y="-7658100"/>
            <a:ext cx="18792825" cy="9334500"/>
            <a:chOff x="0" y="0"/>
            <a:chExt cx="25057100" cy="1244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57100" cy="12446000"/>
            </a:xfrm>
            <a:custGeom>
              <a:avLst/>
              <a:gdLst/>
              <a:ahLst/>
              <a:cxnLst/>
              <a:rect r="r" b="b" t="t" l="l"/>
              <a:pathLst>
                <a:path h="12446000" w="25057100">
                  <a:moveTo>
                    <a:pt x="12528550" y="0"/>
                  </a:moveTo>
                  <a:lnTo>
                    <a:pt x="25057100" y="12446000"/>
                  </a:lnTo>
                  <a:lnTo>
                    <a:pt x="0" y="12446000"/>
                  </a:lnTo>
                  <a:lnTo>
                    <a:pt x="12528550" y="0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57100" cy="1248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38225" y="9239250"/>
            <a:ext cx="21526500" cy="2105025"/>
            <a:chOff x="0" y="0"/>
            <a:chExt cx="28702000" cy="2806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702000" cy="2806700"/>
            </a:xfrm>
            <a:custGeom>
              <a:avLst/>
              <a:gdLst/>
              <a:ahLst/>
              <a:cxnLst/>
              <a:rect r="r" b="b" t="t" l="l"/>
              <a:pathLst>
                <a:path h="2806700" w="28702000">
                  <a:moveTo>
                    <a:pt x="0" y="0"/>
                  </a:moveTo>
                  <a:lnTo>
                    <a:pt x="28702000" y="0"/>
                  </a:lnTo>
                  <a:lnTo>
                    <a:pt x="28702000" y="2806700"/>
                  </a:lnTo>
                  <a:lnTo>
                    <a:pt x="0" y="2806700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702000" cy="2844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57325" y="183112"/>
            <a:ext cx="7334250" cy="122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b="true" sz="5193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450" y="1666875"/>
            <a:ext cx="9525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Desarrollo Incremental  ·  12 semanas  ·  3 incrementos de 4 semanas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3450" y="2381250"/>
            <a:ext cx="4953000" cy="3238500"/>
            <a:chOff x="0" y="0"/>
            <a:chExt cx="6604000" cy="431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604000">
                  <a:moveTo>
                    <a:pt x="431800" y="0"/>
                  </a:moveTo>
                  <a:lnTo>
                    <a:pt x="6172200" y="0"/>
                  </a:lnTo>
                  <a:cubicBezTo>
                    <a:pt x="6410677" y="0"/>
                    <a:pt x="6604000" y="193323"/>
                    <a:pt x="6604000" y="431800"/>
                  </a:cubicBezTo>
                  <a:lnTo>
                    <a:pt x="6604000" y="3886200"/>
                  </a:lnTo>
                  <a:cubicBezTo>
                    <a:pt x="6604000" y="4124677"/>
                    <a:pt x="6410677" y="4318000"/>
                    <a:pt x="6172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604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3950" y="2190750"/>
            <a:ext cx="571500" cy="405841"/>
            <a:chOff x="0" y="0"/>
            <a:chExt cx="762000" cy="5411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0" cy="541122"/>
            </a:xfrm>
            <a:custGeom>
              <a:avLst/>
              <a:gdLst/>
              <a:ahLst/>
              <a:cxnLst/>
              <a:rect r="r" b="b" t="t" l="l"/>
              <a:pathLst>
                <a:path h="541122" w="762000">
                  <a:moveTo>
                    <a:pt x="50800" y="0"/>
                  </a:moveTo>
                  <a:lnTo>
                    <a:pt x="711200" y="0"/>
                  </a:lnTo>
                  <a:cubicBezTo>
                    <a:pt x="739256" y="0"/>
                    <a:pt x="762000" y="24227"/>
                    <a:pt x="762000" y="54112"/>
                  </a:cubicBezTo>
                  <a:lnTo>
                    <a:pt x="762000" y="487009"/>
                  </a:lnTo>
                  <a:cubicBezTo>
                    <a:pt x="762000" y="516895"/>
                    <a:pt x="739256" y="541122"/>
                    <a:pt x="711200" y="541122"/>
                  </a:cubicBezTo>
                  <a:lnTo>
                    <a:pt x="50800" y="541122"/>
                  </a:lnTo>
                  <a:cubicBezTo>
                    <a:pt x="22744" y="541122"/>
                    <a:pt x="0" y="516895"/>
                    <a:pt x="0" y="487009"/>
                  </a:cubicBezTo>
                  <a:lnTo>
                    <a:pt x="0" y="54112"/>
                  </a:lnTo>
                  <a:cubicBezTo>
                    <a:pt x="0" y="24227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62000" cy="579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38325" y="2514600"/>
            <a:ext cx="3905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INCREMENTO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38325" y="2781300"/>
            <a:ext cx="39052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1B2BA"/>
                </a:solidFill>
                <a:latin typeface="Open Sauce"/>
                <a:ea typeface="Open Sauce"/>
                <a:cs typeface="Open Sauce"/>
                <a:sym typeface="Open Sauce"/>
              </a:rPr>
              <a:t>Semanas 1 - 4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1575" y="3124200"/>
            <a:ext cx="4476750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Fundamentos y E-commerce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1575" y="3627755"/>
            <a:ext cx="44767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Base de datos relacional (PostgreSQL)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Autenticación y login de usuarios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Catálogo de productos funcional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172200" y="2381250"/>
            <a:ext cx="4953000" cy="3238500"/>
            <a:chOff x="0" y="0"/>
            <a:chExt cx="6604000" cy="431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604000">
                  <a:moveTo>
                    <a:pt x="431800" y="0"/>
                  </a:moveTo>
                  <a:lnTo>
                    <a:pt x="6172200" y="0"/>
                  </a:lnTo>
                  <a:cubicBezTo>
                    <a:pt x="6410677" y="0"/>
                    <a:pt x="6604000" y="193323"/>
                    <a:pt x="6604000" y="431800"/>
                  </a:cubicBezTo>
                  <a:lnTo>
                    <a:pt x="6604000" y="3886200"/>
                  </a:lnTo>
                  <a:cubicBezTo>
                    <a:pt x="6604000" y="4124677"/>
                    <a:pt x="6410677" y="4318000"/>
                    <a:pt x="6172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604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62700" y="2190750"/>
            <a:ext cx="571500" cy="405841"/>
            <a:chOff x="0" y="0"/>
            <a:chExt cx="762000" cy="5411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0" cy="541122"/>
            </a:xfrm>
            <a:custGeom>
              <a:avLst/>
              <a:gdLst/>
              <a:ahLst/>
              <a:cxnLst/>
              <a:rect r="r" b="b" t="t" l="l"/>
              <a:pathLst>
                <a:path h="541122" w="762000">
                  <a:moveTo>
                    <a:pt x="50800" y="0"/>
                  </a:moveTo>
                  <a:lnTo>
                    <a:pt x="711200" y="0"/>
                  </a:lnTo>
                  <a:cubicBezTo>
                    <a:pt x="739256" y="0"/>
                    <a:pt x="762000" y="24227"/>
                    <a:pt x="762000" y="54112"/>
                  </a:cubicBezTo>
                  <a:lnTo>
                    <a:pt x="762000" y="487009"/>
                  </a:lnTo>
                  <a:cubicBezTo>
                    <a:pt x="762000" y="516895"/>
                    <a:pt x="739256" y="541122"/>
                    <a:pt x="711200" y="541122"/>
                  </a:cubicBezTo>
                  <a:lnTo>
                    <a:pt x="50800" y="541122"/>
                  </a:lnTo>
                  <a:cubicBezTo>
                    <a:pt x="22744" y="541122"/>
                    <a:pt x="0" y="516895"/>
                    <a:pt x="0" y="487009"/>
                  </a:cubicBezTo>
                  <a:lnTo>
                    <a:pt x="0" y="54112"/>
                  </a:lnTo>
                  <a:cubicBezTo>
                    <a:pt x="0" y="24227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0" cy="579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77075" y="2514600"/>
            <a:ext cx="3905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INCREMENTO 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77075" y="2781300"/>
            <a:ext cx="39052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1B2BA"/>
                </a:solidFill>
                <a:latin typeface="Open Sauce"/>
                <a:ea typeface="Open Sauce"/>
                <a:cs typeface="Open Sauce"/>
                <a:sym typeface="Open Sauce"/>
              </a:rPr>
              <a:t>Semanas 5 - 8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10325" y="3124200"/>
            <a:ext cx="4476750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Agendamiento y Pagos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0325" y="3627755"/>
            <a:ext cx="44767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Carrito de compras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Calendario interactivo con bloqueo de citas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Integración API Mercado Pago (Webhooks)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410950" y="2381250"/>
            <a:ext cx="4953000" cy="3238500"/>
            <a:chOff x="0" y="0"/>
            <a:chExt cx="6604000" cy="4318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0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604000">
                  <a:moveTo>
                    <a:pt x="431800" y="0"/>
                  </a:moveTo>
                  <a:lnTo>
                    <a:pt x="6172200" y="0"/>
                  </a:lnTo>
                  <a:cubicBezTo>
                    <a:pt x="6410677" y="0"/>
                    <a:pt x="6604000" y="193323"/>
                    <a:pt x="6604000" y="431800"/>
                  </a:cubicBezTo>
                  <a:lnTo>
                    <a:pt x="6604000" y="3886200"/>
                  </a:lnTo>
                  <a:cubicBezTo>
                    <a:pt x="6604000" y="4124677"/>
                    <a:pt x="6410677" y="4318000"/>
                    <a:pt x="6172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8368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604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01450" y="2190750"/>
            <a:ext cx="571500" cy="405841"/>
            <a:chOff x="0" y="0"/>
            <a:chExt cx="762000" cy="5411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0" cy="541122"/>
            </a:xfrm>
            <a:custGeom>
              <a:avLst/>
              <a:gdLst/>
              <a:ahLst/>
              <a:cxnLst/>
              <a:rect r="r" b="b" t="t" l="l"/>
              <a:pathLst>
                <a:path h="541122" w="762000">
                  <a:moveTo>
                    <a:pt x="50800" y="0"/>
                  </a:moveTo>
                  <a:lnTo>
                    <a:pt x="711200" y="0"/>
                  </a:lnTo>
                  <a:cubicBezTo>
                    <a:pt x="739256" y="0"/>
                    <a:pt x="762000" y="24227"/>
                    <a:pt x="762000" y="54112"/>
                  </a:cubicBezTo>
                  <a:lnTo>
                    <a:pt x="762000" y="487009"/>
                  </a:lnTo>
                  <a:cubicBezTo>
                    <a:pt x="762000" y="516895"/>
                    <a:pt x="739256" y="541122"/>
                    <a:pt x="711200" y="541122"/>
                  </a:cubicBezTo>
                  <a:lnTo>
                    <a:pt x="50800" y="541122"/>
                  </a:lnTo>
                  <a:cubicBezTo>
                    <a:pt x="22744" y="541122"/>
                    <a:pt x="0" y="516895"/>
                    <a:pt x="0" y="487009"/>
                  </a:cubicBezTo>
                  <a:lnTo>
                    <a:pt x="0" y="54112"/>
                  </a:lnTo>
                  <a:cubicBezTo>
                    <a:pt x="0" y="24227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62000" cy="579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315825" y="2514600"/>
            <a:ext cx="3905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INCREMENTO 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15825" y="2781300"/>
            <a:ext cx="39052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1B2BA"/>
                </a:solidFill>
                <a:latin typeface="Open Sauce"/>
                <a:ea typeface="Open Sauce"/>
                <a:cs typeface="Open Sauce"/>
                <a:sym typeface="Open Sauce"/>
              </a:rPr>
              <a:t>Semanas 9 - 12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49075" y="3124200"/>
            <a:ext cx="4476750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1E1E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BI, Escalabilidad y Cierre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49075" y="3627755"/>
            <a:ext cx="44767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Correos automáticos (Nodemailer SMTP)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Módulo de trabajadores/instaladores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Dashboard Power BI embebido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• Chatbot y paso a producción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3450" y="6086475"/>
            <a:ext cx="4762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GESTIÓN Y SEGUIMIENTO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3450" y="6429375"/>
            <a:ext cx="3619500" cy="666750"/>
            <a:chOff x="0" y="0"/>
            <a:chExt cx="4826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2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826000">
                  <a:moveTo>
                    <a:pt x="88900" y="0"/>
                  </a:moveTo>
                  <a:lnTo>
                    <a:pt x="4737100" y="0"/>
                  </a:lnTo>
                  <a:cubicBezTo>
                    <a:pt x="4786198" y="0"/>
                    <a:pt x="4826000" y="39802"/>
                    <a:pt x="4826000" y="88900"/>
                  </a:cubicBezTo>
                  <a:lnTo>
                    <a:pt x="4826000" y="800100"/>
                  </a:lnTo>
                  <a:cubicBezTo>
                    <a:pt x="4826000" y="849198"/>
                    <a:pt x="4786198" y="889000"/>
                    <a:pt x="4737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82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76325" y="6524625"/>
            <a:ext cx="3333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📋  </a:t>
            </a:r>
            <a:r>
              <a:rPr lang="en-US" b="true" sz="15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Backlog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76325" y="6791325"/>
            <a:ext cx="3333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B0C4DE"/>
                </a:solidFill>
                <a:latin typeface="Open Sauce"/>
                <a:ea typeface="Open Sauce"/>
                <a:cs typeface="Open Sauce"/>
                <a:sym typeface="Open Sauce"/>
              </a:rPr>
              <a:t>Tareas en tablero Trello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791075" y="6429375"/>
            <a:ext cx="3619500" cy="666750"/>
            <a:chOff x="0" y="0"/>
            <a:chExt cx="4826000" cy="889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2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826000">
                  <a:moveTo>
                    <a:pt x="88900" y="0"/>
                  </a:moveTo>
                  <a:lnTo>
                    <a:pt x="4737100" y="0"/>
                  </a:lnTo>
                  <a:cubicBezTo>
                    <a:pt x="4786198" y="0"/>
                    <a:pt x="4826000" y="39802"/>
                    <a:pt x="4826000" y="88900"/>
                  </a:cubicBezTo>
                  <a:lnTo>
                    <a:pt x="4826000" y="800100"/>
                  </a:lnTo>
                  <a:cubicBezTo>
                    <a:pt x="4826000" y="849198"/>
                    <a:pt x="4786198" y="889000"/>
                    <a:pt x="4737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82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4933950" y="6524625"/>
            <a:ext cx="3333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📅  </a:t>
            </a:r>
            <a:r>
              <a:rPr lang="en-US" b="true" sz="15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Status Meeting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933950" y="6791325"/>
            <a:ext cx="3333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B0C4DE"/>
                </a:solidFill>
                <a:latin typeface="Open Sauce"/>
                <a:ea typeface="Open Sauce"/>
                <a:cs typeface="Open Sauce"/>
                <a:sym typeface="Open Sauce"/>
              </a:rPr>
              <a:t>Martes 14:30 hrs (15 min)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648700" y="6429375"/>
            <a:ext cx="3619500" cy="666750"/>
            <a:chOff x="0" y="0"/>
            <a:chExt cx="4826000" cy="889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2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826000">
                  <a:moveTo>
                    <a:pt x="88900" y="0"/>
                  </a:moveTo>
                  <a:lnTo>
                    <a:pt x="4737100" y="0"/>
                  </a:lnTo>
                  <a:cubicBezTo>
                    <a:pt x="4786198" y="0"/>
                    <a:pt x="4826000" y="39802"/>
                    <a:pt x="4826000" y="88900"/>
                  </a:cubicBezTo>
                  <a:lnTo>
                    <a:pt x="4826000" y="800100"/>
                  </a:lnTo>
                  <a:cubicBezTo>
                    <a:pt x="4826000" y="849198"/>
                    <a:pt x="4786198" y="889000"/>
                    <a:pt x="4737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82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791575" y="6524625"/>
            <a:ext cx="3333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📉  </a:t>
            </a:r>
            <a:r>
              <a:rPr lang="en-US" b="true" sz="15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Burn-down Chart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91575" y="6791325"/>
            <a:ext cx="3333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B0C4DE"/>
                </a:solidFill>
                <a:latin typeface="Open Sauce"/>
                <a:ea typeface="Open Sauce"/>
                <a:cs typeface="Open Sauce"/>
                <a:sym typeface="Open Sauce"/>
              </a:rPr>
              <a:t>Métricas de avance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506325" y="6429375"/>
            <a:ext cx="3619500" cy="666750"/>
            <a:chOff x="0" y="0"/>
            <a:chExt cx="4826000" cy="889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2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826000">
                  <a:moveTo>
                    <a:pt x="88900" y="0"/>
                  </a:moveTo>
                  <a:lnTo>
                    <a:pt x="4737100" y="0"/>
                  </a:lnTo>
                  <a:cubicBezTo>
                    <a:pt x="4786198" y="0"/>
                    <a:pt x="4826000" y="39802"/>
                    <a:pt x="4826000" y="88900"/>
                  </a:cubicBezTo>
                  <a:lnTo>
                    <a:pt x="4826000" y="800100"/>
                  </a:lnTo>
                  <a:cubicBezTo>
                    <a:pt x="4826000" y="849198"/>
                    <a:pt x="4786198" y="889000"/>
                    <a:pt x="4737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83685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2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649200" y="6524625"/>
            <a:ext cx="3333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🔄  </a:t>
            </a:r>
            <a:r>
              <a:rPr lang="en-US" b="true" sz="15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Retrospectiva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649200" y="6791325"/>
            <a:ext cx="333375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B0C4DE"/>
                </a:solidFill>
                <a:latin typeface="Open Sauce"/>
                <a:ea typeface="Open Sauce"/>
                <a:cs typeface="Open Sauce"/>
                <a:sym typeface="Open Sauce"/>
              </a:rPr>
              <a:t>Al cierre de cada incremento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429000" y="72580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51B2BA"/>
                </a:solidFill>
                <a:latin typeface="Open Sauce"/>
                <a:ea typeface="Open Sauce"/>
                <a:cs typeface="Open Sauce"/>
                <a:sym typeface="Open Sauce"/>
              </a:rPr>
              <a:t>Cada incremento entrega software 100% funcional y evaluable, construyendo sobre el anterior.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35888" y="9235036"/>
            <a:ext cx="21518857" cy="2096422"/>
            <a:chOff x="0" y="0"/>
            <a:chExt cx="5667518" cy="5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67518" cy="552144"/>
            </a:xfrm>
            <a:custGeom>
              <a:avLst/>
              <a:gdLst/>
              <a:ahLst/>
              <a:cxnLst/>
              <a:rect r="r" b="b" t="t" l="l"/>
              <a:pathLst>
                <a:path h="552144" w="5667518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931576" y="1028700"/>
            <a:ext cx="13635042" cy="13621806"/>
            <a:chOff x="0" y="0"/>
            <a:chExt cx="890190" cy="889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3535" y="23503"/>
              <a:ext cx="843120" cy="842321"/>
            </a:xfrm>
            <a:custGeom>
              <a:avLst/>
              <a:gdLst/>
              <a:ahLst/>
              <a:cxnLst/>
              <a:rect r="r" b="b" t="t" l="l"/>
              <a:pathLst>
                <a:path h="842321" w="843120">
                  <a:moveTo>
                    <a:pt x="461729" y="16627"/>
                  </a:moveTo>
                  <a:lnTo>
                    <a:pt x="826487" y="381030"/>
                  </a:lnTo>
                  <a:cubicBezTo>
                    <a:pt x="837136" y="391670"/>
                    <a:pt x="843120" y="406106"/>
                    <a:pt x="843120" y="421160"/>
                  </a:cubicBezTo>
                  <a:cubicBezTo>
                    <a:pt x="843120" y="436214"/>
                    <a:pt x="837136" y="450650"/>
                    <a:pt x="826487" y="461290"/>
                  </a:cubicBezTo>
                  <a:lnTo>
                    <a:pt x="461729" y="825694"/>
                  </a:lnTo>
                  <a:cubicBezTo>
                    <a:pt x="439538" y="847863"/>
                    <a:pt x="403582" y="847863"/>
                    <a:pt x="381391" y="825694"/>
                  </a:cubicBezTo>
                  <a:lnTo>
                    <a:pt x="16634" y="461290"/>
                  </a:lnTo>
                  <a:cubicBezTo>
                    <a:pt x="5984" y="450650"/>
                    <a:pt x="0" y="436214"/>
                    <a:pt x="0" y="421160"/>
                  </a:cubicBezTo>
                  <a:cubicBezTo>
                    <a:pt x="0" y="406106"/>
                    <a:pt x="5984" y="391670"/>
                    <a:pt x="16634" y="381030"/>
                  </a:cubicBezTo>
                  <a:lnTo>
                    <a:pt x="381391" y="16627"/>
                  </a:lnTo>
                  <a:cubicBezTo>
                    <a:pt x="403582" y="-5543"/>
                    <a:pt x="439538" y="-5543"/>
                    <a:pt x="461729" y="16627"/>
                  </a:cubicBezTo>
                  <a:close/>
                </a:path>
              </a:pathLst>
            </a:custGeom>
            <a:blipFill>
              <a:blip r:embed="rId2"/>
              <a:stretch>
                <a:fillRect l="-13723" t="-6059" r="-49963" b="-310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424017" y="-6859967"/>
            <a:ext cx="18788758" cy="9328392"/>
            <a:chOff x="0" y="0"/>
            <a:chExt cx="1557574" cy="7733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862" y="0"/>
              <a:ext cx="1517850" cy="759391"/>
            </a:xfrm>
            <a:custGeom>
              <a:avLst/>
              <a:gdLst/>
              <a:ahLst/>
              <a:cxnLst/>
              <a:rect r="r" b="b" t="t" l="l"/>
              <a:pathLst>
                <a:path h="759391" w="1517850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513835" y="721307"/>
            <a:ext cx="745465" cy="614786"/>
          </a:xfrm>
          <a:custGeom>
            <a:avLst/>
            <a:gdLst/>
            <a:ahLst/>
            <a:cxnLst/>
            <a:rect r="r" b="b" t="t" l="l"/>
            <a:pathLst>
              <a:path h="614786" w="745465">
                <a:moveTo>
                  <a:pt x="0" y="0"/>
                </a:moveTo>
                <a:lnTo>
                  <a:pt x="745465" y="0"/>
                </a:lnTo>
                <a:lnTo>
                  <a:pt x="745465" y="614786"/>
                </a:lnTo>
                <a:lnTo>
                  <a:pt x="0" y="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95022" y="3070168"/>
            <a:ext cx="4959710" cy="231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65"/>
              </a:lnSpc>
            </a:pPr>
            <a:r>
              <a:rPr lang="en-US" b="true" sz="6628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¡GRACIAS</a:t>
            </a:r>
          </a:p>
          <a:p>
            <a:pPr algn="l" marL="0" indent="0" lvl="0">
              <a:lnSpc>
                <a:spcPts val="5965"/>
              </a:lnSpc>
            </a:pPr>
            <a:r>
              <a:rPr lang="en-US" b="true" sz="6628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POR SU</a:t>
            </a:r>
          </a:p>
          <a:p>
            <a:pPr algn="l" marL="0" indent="0" lvl="0">
              <a:lnSpc>
                <a:spcPts val="5965"/>
              </a:lnSpc>
            </a:pPr>
            <a:r>
              <a:rPr lang="en-US" b="true" sz="6628">
                <a:solidFill>
                  <a:srgbClr val="183685"/>
                </a:solidFill>
                <a:latin typeface="DM Sans Bold"/>
                <a:ea typeface="DM Sans Bold"/>
                <a:cs typeface="DM Sans Bold"/>
                <a:sym typeface="DM Sans Bold"/>
              </a:rPr>
              <a:t>ATENCIÓN!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02292" y="2094818"/>
            <a:ext cx="1371544" cy="1371544"/>
            <a:chOff x="0" y="0"/>
            <a:chExt cx="361230" cy="3612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230" cy="361230"/>
            </a:xfrm>
            <a:custGeom>
              <a:avLst/>
              <a:gdLst/>
              <a:ahLst/>
              <a:cxnLst/>
              <a:rect r="r" b="b" t="t" l="l"/>
              <a:pathLst>
                <a:path h="361230" w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51B2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DAHUhHMYIDk</dc:identifier>
  <dcterms:modified xsi:type="dcterms:W3CDTF">2011-08-01T06:04:30Z</dcterms:modified>
  <cp:revision>1</cp:revision>
  <dc:title>Plan de Proyecto HidroPura System</dc:title>
</cp:coreProperties>
</file>